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8288000" cy="10287000"/>
  <p:notesSz cx="6858000" cy="9144000"/>
  <p:embeddedFontLst>
    <p:embeddedFont>
      <p:font typeface="Open Sans" panose="020B0606030504020204" pitchFamily="34" charset="0"/>
      <p:regular r:id="rId9"/>
    </p:embeddedFont>
    <p:embeddedFont>
      <p:font typeface="Open Sans Bold" panose="020B0806030504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5563" y="2055532"/>
            <a:ext cx="8714219" cy="385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1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AI-Generated Text Analysis &amp; Detection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58600" y="8773489"/>
            <a:ext cx="16970799" cy="969623"/>
            <a:chOff x="0" y="0"/>
            <a:chExt cx="22627733" cy="12928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22627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END-TERM EVALUATION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89698"/>
              <a:ext cx="2262773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 Tanishq Choudhary 23FE10CSE00664 Under the Guidance of: Dr. Ashish Kumar Manipal University Jaipur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0826032" y="1926944"/>
            <a:ext cx="6433268" cy="6175937"/>
          </a:xfrm>
          <a:custGeom>
            <a:avLst/>
            <a:gdLst/>
            <a:ahLst/>
            <a:cxnLst/>
            <a:rect l="l" t="t" r="r" b="b"/>
            <a:pathLst>
              <a:path w="6433268" h="6175937">
                <a:moveTo>
                  <a:pt x="0" y="0"/>
                </a:moveTo>
                <a:lnTo>
                  <a:pt x="6433268" y="0"/>
                </a:lnTo>
                <a:lnTo>
                  <a:pt x="6433268" y="6175937"/>
                </a:lnTo>
                <a:lnTo>
                  <a:pt x="0" y="6175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4625" y="1692992"/>
            <a:ext cx="6580187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1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4625" y="3388442"/>
            <a:ext cx="14387129" cy="173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Large Language Models (LLMs) like ChatGPT, Bard, and DeepSeek generate human-like text.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AI-generated content is increasingly used in academia, journalism, and creative writing.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Differentiating AI-generated text from human-written content is challenging.</a:t>
            </a:r>
          </a:p>
          <a:p>
            <a:pPr algn="l">
              <a:lnSpc>
                <a:spcPts val="3464"/>
              </a:lnSpc>
            </a:pPr>
            <a:endParaRPr lang="en-US" sz="232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84625" y="5143500"/>
            <a:ext cx="11078754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1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4625" y="6838893"/>
            <a:ext cx="14387129" cy="173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AI-generated text lacks transparency and may contain hallucinations, misinformation, or bias.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Existing AI-detection methods struggle against paraphrasing &amp; adversarial attacks.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Reliable methods are required to identify, analyze, and assess AI-generated text.</a:t>
            </a:r>
          </a:p>
          <a:p>
            <a:pPr algn="l">
              <a:lnSpc>
                <a:spcPts val="3464"/>
              </a:lnSpc>
            </a:pPr>
            <a:endParaRPr lang="en-US" sz="232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658600" y="8773489"/>
            <a:ext cx="16970799" cy="969623"/>
            <a:chOff x="0" y="0"/>
            <a:chExt cx="22627733" cy="1292830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22627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END-TERM EVALUATION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89698"/>
              <a:ext cx="2262773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 Tanishq Choudhary 23FE10CSE00664 Under the Guidance of: Dr. Ashish Kumar Manipal University Jaipur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3139523"/>
            <a:ext cx="6714386" cy="338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dirty="0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Extensive </a:t>
            </a:r>
          </a:p>
          <a:p>
            <a:pPr algn="l">
              <a:lnSpc>
                <a:spcPts val="8970"/>
              </a:lnSpc>
            </a:pPr>
            <a:r>
              <a:rPr lang="en-US" sz="6500" b="1" dirty="0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Literature </a:t>
            </a:r>
          </a:p>
          <a:p>
            <a:pPr algn="l">
              <a:lnSpc>
                <a:spcPts val="8970"/>
              </a:lnSpc>
            </a:pPr>
            <a:r>
              <a:rPr lang="en-US" sz="6500" b="1" dirty="0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14705" y="449462"/>
            <a:ext cx="11336432" cy="9388077"/>
            <a:chOff x="0" y="0"/>
            <a:chExt cx="15115243" cy="12517436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15115243" cy="1203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62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Analyze statistical &amp; linguistic patterns in Wikipedia (human-written) vs. AI-generated text.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2540264"/>
              <a:ext cx="15115243" cy="0"/>
            </a:xfrm>
            <a:prstGeom prst="line">
              <a:avLst/>
            </a:prstGeom>
            <a:ln w="12700" cap="rnd">
              <a:solidFill>
                <a:srgbClr val="003C6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248756"/>
              <a:ext cx="15115243" cy="1203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62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Evaluate watermarking &amp; AI detection techniques (e.g., entropy, Zipf’s Law, readability scores).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5846170"/>
              <a:ext cx="15115243" cy="0"/>
            </a:xfrm>
            <a:prstGeom prst="line">
              <a:avLst/>
            </a:prstGeom>
            <a:ln w="12700" cap="rnd">
              <a:solidFill>
                <a:srgbClr val="003C6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554662"/>
              <a:ext cx="15115243" cy="585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62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Develop a structured methodology for analyzing AI-generated content.</a:t>
              </a:r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8534618"/>
              <a:ext cx="15115243" cy="0"/>
            </a:xfrm>
            <a:prstGeom prst="line">
              <a:avLst/>
            </a:prstGeom>
            <a:ln w="12700" cap="rnd">
              <a:solidFill>
                <a:srgbClr val="003C6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243110"/>
              <a:ext cx="15115243" cy="1203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62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Visualize AI vs. human text differences through statistical graphs &amp; patterns.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11223066"/>
              <a:ext cx="15115243" cy="0"/>
            </a:xfrm>
            <a:prstGeom prst="line">
              <a:avLst/>
            </a:prstGeom>
            <a:ln w="12700" cap="rnd">
              <a:solidFill>
                <a:srgbClr val="003C6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931558"/>
              <a:ext cx="15115243" cy="585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8600" y="9258300"/>
            <a:ext cx="16970799" cy="969623"/>
            <a:chOff x="0" y="0"/>
            <a:chExt cx="22627733" cy="12928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57150"/>
              <a:ext cx="22627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END-TERM EVALUATION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89698"/>
              <a:ext cx="2262773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dirty="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 Tanishq Choudhary 23FE10CSE00664 Under the Guidance of: Dr. Ashish Kumar Manipal University Jaipur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060" y="388067"/>
            <a:ext cx="1795956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1" dirty="0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Learning new Techniques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4625" y="1683467"/>
            <a:ext cx="6252992" cy="71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6"/>
              </a:lnSpc>
            </a:pPr>
            <a:r>
              <a:rPr lang="en-US" sz="4797" b="1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Collection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4625" y="2432565"/>
            <a:ext cx="14387129" cy="1295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Sources: Wikipedia text (human-written) vs. AI-generated text (ChatGPT, Bard, DeepSeek).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Topics Covered: History, Science, Literature, Philosophy, Technology, Pop Culture, Medicine.</a:t>
            </a:r>
          </a:p>
          <a:p>
            <a:pPr algn="l">
              <a:lnSpc>
                <a:spcPts val="3464"/>
              </a:lnSpc>
            </a:pPr>
            <a:endParaRPr lang="en-US" sz="232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84625" y="3374704"/>
            <a:ext cx="6252992" cy="71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6"/>
              </a:lnSpc>
            </a:pPr>
            <a:r>
              <a:rPr lang="en-US" sz="4797" b="1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4625" y="4119518"/>
            <a:ext cx="14387129" cy="173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Tokenization (Splitting text into words/sentences).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Stopword Removal &amp; Normalization (Cleaning unnecessary words).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Part-of-Speech (POS) Tagging (Nouns, Verbs, etc.).</a:t>
            </a:r>
          </a:p>
          <a:p>
            <a:pPr algn="l">
              <a:lnSpc>
                <a:spcPts val="3464"/>
              </a:lnSpc>
            </a:pPr>
            <a:endParaRPr lang="en-US" sz="2324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84625" y="5499807"/>
            <a:ext cx="10718482" cy="71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6"/>
              </a:lnSpc>
            </a:pPr>
            <a:r>
              <a:rPr lang="en-US" sz="4797" b="1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Statistical &amp; Linguistic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4625" y="6244622"/>
            <a:ext cx="14387129" cy="260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Lexical Features: Word count, sentence length, lexical diversity.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Entropy Calculation: Measures randomness &amp; predictability of text.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Zipf’s Law Analysis: Examines word frequency distribution.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Readability Tests: Flesch Reading Ease Score.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Graphs: Word length distribution, Zipf’s law, Entropy comparisons.</a:t>
            </a:r>
          </a:p>
          <a:p>
            <a:pPr marL="501963" lvl="1" indent="-250981" algn="l">
              <a:lnSpc>
                <a:spcPts val="346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 Generation: PDF reports summarizing analysis.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8600" y="9258300"/>
            <a:ext cx="16970799" cy="969623"/>
            <a:chOff x="0" y="0"/>
            <a:chExt cx="22627733" cy="129283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22627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END-TERM EVALUATION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89698"/>
              <a:ext cx="2262773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 Tanishq Choudhary 23FE10CSE00664 Under the Guidance of: Dr. Ashish Kumar Manipal University Jaipur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3765" y="2910619"/>
            <a:ext cx="5471070" cy="4465761"/>
          </a:xfrm>
          <a:custGeom>
            <a:avLst/>
            <a:gdLst/>
            <a:ahLst/>
            <a:cxnLst/>
            <a:rect l="l" t="t" r="r" b="b"/>
            <a:pathLst>
              <a:path w="5471070" h="4465761">
                <a:moveTo>
                  <a:pt x="0" y="0"/>
                </a:moveTo>
                <a:lnTo>
                  <a:pt x="5471070" y="0"/>
                </a:lnTo>
                <a:lnTo>
                  <a:pt x="5471070" y="4465762"/>
                </a:lnTo>
                <a:lnTo>
                  <a:pt x="0" y="4465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57393" y="485775"/>
            <a:ext cx="17573214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Implementation - MADAARI</a:t>
            </a:r>
          </a:p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FFF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Machine-Assisted Detection and Analysis of AI-Generated and Real Inputs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923" y="1828840"/>
            <a:ext cx="15430728" cy="802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2"/>
              </a:lnSpc>
            </a:pPr>
            <a:r>
              <a:rPr lang="en-US" sz="4316" b="1">
                <a:solidFill>
                  <a:srgbClr val="FFF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Libraries Used: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NLTK (Natural Language Processing)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Matplotlib &amp; Seaborn (Data Visualization)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TextStat (Readability Analysis)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ReportLab/FPDF (PDF Generation)</a:t>
            </a:r>
          </a:p>
          <a:p>
            <a:pPr algn="l">
              <a:lnSpc>
                <a:spcPts val="6432"/>
              </a:lnSpc>
            </a:pPr>
            <a:r>
              <a:rPr lang="en-US" sz="4316" b="1">
                <a:solidFill>
                  <a:srgbClr val="FFF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Features of MADAARI:</a:t>
            </a:r>
          </a:p>
          <a:p>
            <a:pPr algn="l">
              <a:lnSpc>
                <a:spcPts val="4035"/>
              </a:lnSpc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✅ Preprocesses Input Text: Tokenization, stopword removal, POS tagging.</a:t>
            </a:r>
          </a:p>
          <a:p>
            <a:pPr algn="l">
              <a:lnSpc>
                <a:spcPts val="4035"/>
              </a:lnSpc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✅ Computes AI vs. Human Text Differences: Word distributions, entropy, sentence complexity.</a:t>
            </a:r>
          </a:p>
          <a:p>
            <a:pPr algn="l">
              <a:lnSpc>
                <a:spcPts val="4035"/>
              </a:lnSpc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✅ Generates Visual Reports: Histograms, frequency plots, statistical graphs.</a:t>
            </a:r>
          </a:p>
          <a:p>
            <a:pPr algn="l">
              <a:lnSpc>
                <a:spcPts val="4035"/>
              </a:lnSpc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✅ Saves Final Analysis in PDF Format.</a:t>
            </a:r>
          </a:p>
          <a:p>
            <a:pPr algn="l">
              <a:lnSpc>
                <a:spcPts val="6432"/>
              </a:lnSpc>
            </a:pPr>
            <a:r>
              <a:rPr lang="en-US" sz="4316" b="1">
                <a:solidFill>
                  <a:srgbClr val="FFF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Current Results: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AI-generated text has lower entropy and higher repetition.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AI-generated text scores lower on readability tests than human text.</a:t>
            </a:r>
          </a:p>
          <a:p>
            <a:pPr marL="584684" lvl="1" indent="-292342" algn="l">
              <a:lnSpc>
                <a:spcPts val="4035"/>
              </a:lnSpc>
              <a:buFont typeface="Arial"/>
              <a:buChar char="•"/>
            </a:pPr>
            <a:r>
              <a:rPr lang="en-US" sz="2708">
                <a:solidFill>
                  <a:srgbClr val="FFFDF6"/>
                </a:solidFill>
                <a:latin typeface="Open Sans"/>
                <a:ea typeface="Open Sans"/>
                <a:cs typeface="Open Sans"/>
                <a:sym typeface="Open Sans"/>
              </a:rPr>
              <a:t>Statistical patterns differ significantly between AI and human-written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89663-4E57-953A-07B0-217FD932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36607F5-FEE7-C575-3625-06BA2E006927}"/>
              </a:ext>
            </a:extLst>
          </p:cNvPr>
          <p:cNvSpPr txBox="1"/>
          <p:nvPr/>
        </p:nvSpPr>
        <p:spPr>
          <a:xfrm>
            <a:off x="754009" y="641069"/>
            <a:ext cx="13114391" cy="1262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1" dirty="0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&amp; Analysis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F60A951-2552-C829-4DBE-4EED9F7C1DFC}"/>
              </a:ext>
            </a:extLst>
          </p:cNvPr>
          <p:cNvGrpSpPr/>
          <p:nvPr/>
        </p:nvGrpSpPr>
        <p:grpSpPr>
          <a:xfrm>
            <a:off x="457200" y="2252207"/>
            <a:ext cx="13334999" cy="6242626"/>
            <a:chOff x="-292222" y="-57150"/>
            <a:chExt cx="13128955" cy="4329945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ECD1352-C86C-8BCA-E633-3DBECBE4E48D}"/>
                </a:ext>
              </a:extLst>
            </p:cNvPr>
            <p:cNvSpPr txBox="1"/>
            <p:nvPr/>
          </p:nvSpPr>
          <p:spPr>
            <a:xfrm>
              <a:off x="0" y="-57150"/>
              <a:ext cx="12836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 TERM </a:t>
              </a: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EVALUATION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8593C13-6E90-75CF-294C-FF155FDC4767}"/>
                </a:ext>
              </a:extLst>
            </p:cNvPr>
            <p:cNvSpPr txBox="1"/>
            <p:nvPr/>
          </p:nvSpPr>
          <p:spPr>
            <a:xfrm>
              <a:off x="-292222" y="789699"/>
              <a:ext cx="13128955" cy="3483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1" i="0" dirty="0">
                  <a:effectLst/>
                  <a:latin typeface="+mj-lt"/>
                </a:rPr>
                <a:t>Strongest Potential Flags for AI:</a:t>
              </a: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Extremely high N-gram repetition rates (especially 3-gram, 4-gram &gt; ~0.5), although seems topic-</a:t>
              </a:r>
            </a:p>
            <a:p>
              <a:pPr lvl="1" algn="l">
                <a:lnSpc>
                  <a:spcPts val="1500"/>
                </a:lnSpc>
                <a:spcAft>
                  <a:spcPts val="225"/>
                </a:spcAft>
              </a:pPr>
              <a:endParaRPr lang="en-US" sz="2400" dirty="0">
                <a:latin typeface="+mj-lt"/>
              </a:endParaRPr>
            </a:p>
            <a:p>
              <a:pPr lvl="1" algn="l">
                <a:lnSpc>
                  <a:spcPts val="1500"/>
                </a:lnSpc>
                <a:spcAft>
                  <a:spcPts val="225"/>
                </a:spcAft>
              </a:pPr>
              <a:r>
                <a:rPr lang="en-US" sz="2400" b="0" i="0" dirty="0">
                  <a:effectLst/>
                  <a:latin typeface="+mj-lt"/>
                </a:rPr>
                <a:t>dependent.</a:t>
              </a: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Lower sentence length standard deviation (more consistent sentence lengths).</a:t>
              </a: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Possibly slightly lower word entropy (more predictable word choices).</a:t>
              </a: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1" i="0" dirty="0">
                <a:effectLst/>
                <a:latin typeface="+mj-lt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1" i="0" dirty="0">
                  <a:effectLst/>
                  <a:latin typeface="+mj-lt"/>
                </a:rPr>
                <a:t>Weaker Potential Flags for AI:</a:t>
              </a: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More consistently neutral-to-positive sentiment.</a:t>
              </a: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1" i="0" dirty="0">
                <a:effectLst/>
                <a:latin typeface="+mj-lt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1" i="0" dirty="0">
                  <a:effectLst/>
                  <a:latin typeface="+mj-lt"/>
                </a:rPr>
                <a:t>Unreliable Indicators (in this dataset):</a:t>
              </a: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Lexical Diversity (TTR/MATTR) - too variable.</a:t>
              </a: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Average Word/Sentence Length - depends on topic/source length.</a:t>
              </a: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Readability Scores - both human/AI can be complex.</a:t>
              </a: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en-US" sz="2400" b="0" i="0" dirty="0">
                <a:effectLst/>
                <a:latin typeface="+mj-lt"/>
              </a:endParaRPr>
            </a:p>
            <a:p>
              <a:pPr marL="742950" lvl="1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n-US" sz="2400" b="0" i="0" dirty="0">
                  <a:effectLst/>
                  <a:latin typeface="+mj-lt"/>
                </a:rPr>
                <a:t>POS Tag features - data unavailable in this run.</a:t>
              </a:r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69914D7-15D1-B8E3-2D80-4B47B2447539}"/>
              </a:ext>
            </a:extLst>
          </p:cNvPr>
          <p:cNvSpPr/>
          <p:nvPr/>
        </p:nvSpPr>
        <p:spPr>
          <a:xfrm>
            <a:off x="14089009" y="2356271"/>
            <a:ext cx="4198992" cy="6175937"/>
          </a:xfrm>
          <a:custGeom>
            <a:avLst/>
            <a:gdLst/>
            <a:ahLst/>
            <a:cxnLst/>
            <a:rect l="l" t="t" r="r" b="b"/>
            <a:pathLst>
              <a:path w="6433268" h="6175937">
                <a:moveTo>
                  <a:pt x="0" y="0"/>
                </a:moveTo>
                <a:lnTo>
                  <a:pt x="6433268" y="0"/>
                </a:lnTo>
                <a:lnTo>
                  <a:pt x="6433268" y="6175937"/>
                </a:lnTo>
                <a:lnTo>
                  <a:pt x="0" y="6175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F567EB3-1AA5-89DC-3383-BF6836B65C77}"/>
              </a:ext>
            </a:extLst>
          </p:cNvPr>
          <p:cNvGrpSpPr/>
          <p:nvPr/>
        </p:nvGrpSpPr>
        <p:grpSpPr>
          <a:xfrm>
            <a:off x="-4504239" y="6480651"/>
            <a:ext cx="14885798" cy="2200016"/>
            <a:chOff x="-7010997" y="789698"/>
            <a:chExt cx="19847730" cy="2933355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167C38D-435E-D7FE-D4B9-FAD8FB322CA7}"/>
                </a:ext>
              </a:extLst>
            </p:cNvPr>
            <p:cNvSpPr txBox="1"/>
            <p:nvPr/>
          </p:nvSpPr>
          <p:spPr>
            <a:xfrm>
              <a:off x="-7010997" y="3144356"/>
              <a:ext cx="12836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NEXT STEPS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657E422-17D6-F117-2018-51A6D30E910B}"/>
                </a:ext>
              </a:extLst>
            </p:cNvPr>
            <p:cNvSpPr txBox="1"/>
            <p:nvPr/>
          </p:nvSpPr>
          <p:spPr>
            <a:xfrm>
              <a:off x="0" y="789698"/>
              <a:ext cx="12836733" cy="511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endParaRPr lang="en-US" sz="2300" dirty="0">
                <a:solidFill>
                  <a:srgbClr val="29292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23DF393-D59B-9D25-6E3C-EA2F80FF5B94}"/>
              </a:ext>
            </a:extLst>
          </p:cNvPr>
          <p:cNvGrpSpPr/>
          <p:nvPr/>
        </p:nvGrpSpPr>
        <p:grpSpPr>
          <a:xfrm>
            <a:off x="658600" y="8948142"/>
            <a:ext cx="16970799" cy="1012486"/>
            <a:chOff x="0" y="-57151"/>
            <a:chExt cx="22627733" cy="1349981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E2CCCC4-839B-691D-EC8F-8299B06D7A2A}"/>
                </a:ext>
              </a:extLst>
            </p:cNvPr>
            <p:cNvSpPr txBox="1"/>
            <p:nvPr/>
          </p:nvSpPr>
          <p:spPr>
            <a:xfrm>
              <a:off x="0" y="-57151"/>
              <a:ext cx="22627733" cy="576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END-TERM EVALUATION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B9B065A-9432-58A2-BBE0-9AB6E7A59699}"/>
                </a:ext>
              </a:extLst>
            </p:cNvPr>
            <p:cNvSpPr txBox="1"/>
            <p:nvPr/>
          </p:nvSpPr>
          <p:spPr>
            <a:xfrm>
              <a:off x="0" y="789698"/>
              <a:ext cx="2262773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 Tanishq Choudhary 23FE10CSE00664 Under the Guidance of: Dr. Ashish Kumar Manipal University Jaipur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568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4009" y="641069"/>
            <a:ext cx="13114391" cy="1262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1" dirty="0">
                <a:solidFill>
                  <a:srgbClr val="29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Experiential Learning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4009" y="2295071"/>
            <a:ext cx="9627550" cy="2969873"/>
            <a:chOff x="0" y="0"/>
            <a:chExt cx="12836733" cy="39598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12836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 TERM </a:t>
              </a: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EVALUATION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89698"/>
              <a:ext cx="12836733" cy="3170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📌 AI-generated text exhibits distinct statistical and linguistic properties compared to human text.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📌 Readability, entropy, and word frequency analysis help differentiate AI-generated content.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📌 Graph-based visualizations provide deeper insights into content structure.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0826032" y="1926944"/>
            <a:ext cx="6433268" cy="6175937"/>
          </a:xfrm>
          <a:custGeom>
            <a:avLst/>
            <a:gdLst/>
            <a:ahLst/>
            <a:cxnLst/>
            <a:rect l="l" t="t" r="r" b="b"/>
            <a:pathLst>
              <a:path w="6433268" h="6175937">
                <a:moveTo>
                  <a:pt x="0" y="0"/>
                </a:moveTo>
                <a:lnTo>
                  <a:pt x="6433268" y="0"/>
                </a:lnTo>
                <a:lnTo>
                  <a:pt x="6433268" y="6175937"/>
                </a:lnTo>
                <a:lnTo>
                  <a:pt x="0" y="6175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754009" y="5888377"/>
            <a:ext cx="9627550" cy="3369923"/>
            <a:chOff x="0" y="0"/>
            <a:chExt cx="12836733" cy="44932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12836733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NEXT STEPS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89698"/>
              <a:ext cx="12836733" cy="3703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🔹 Improve accuracy of AI-detection by refining statistical models.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🔹 Expand dataset to include a wider range of text types.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🔹 Explore hybrid methods combining statistical, linguistic, and ML-based detection.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🔹 Test against adversarial attacks (e.g., paraphrasing, synonym substitution).</a:t>
              </a:r>
            </a:p>
            <a:p>
              <a:pPr algn="l">
                <a:lnSpc>
                  <a:spcPts val="3220"/>
                </a:lnSpc>
              </a:pPr>
              <a:endParaRPr lang="en-US" sz="2300">
                <a:solidFill>
                  <a:srgbClr val="29292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8600" y="8948142"/>
            <a:ext cx="16970799" cy="1012486"/>
            <a:chOff x="0" y="-57151"/>
            <a:chExt cx="22627733" cy="134998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1"/>
              <a:ext cx="22627733" cy="576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29292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END-TERM EVALUATION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89698"/>
              <a:ext cx="2262773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292929"/>
                  </a:solidFill>
                  <a:latin typeface="Open Sans"/>
                  <a:ea typeface="Open Sans"/>
                  <a:cs typeface="Open Sans"/>
                  <a:sym typeface="Open Sans"/>
                </a:rPr>
                <a:t> Tanishq Choudhary 23FE10CSE00664 Under the Guidance of: Dr. Ashish Kumar Manipal University Jaipur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730</Words>
  <Application>Microsoft Office PowerPoint</Application>
  <PresentationFormat>Custom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Open Sans</vt:lpstr>
      <vt:lpstr>Arial</vt:lpstr>
      <vt:lpstr>Calibri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Financial Technology</dc:title>
  <cp:lastModifiedBy>Tanishq Choudhary</cp:lastModifiedBy>
  <cp:revision>5</cp:revision>
  <dcterms:created xsi:type="dcterms:W3CDTF">2006-08-16T00:00:00Z</dcterms:created>
  <dcterms:modified xsi:type="dcterms:W3CDTF">2025-04-15T07:34:02Z</dcterms:modified>
  <dc:identifier>DAGgQwOg0vQ</dc:identifier>
</cp:coreProperties>
</file>